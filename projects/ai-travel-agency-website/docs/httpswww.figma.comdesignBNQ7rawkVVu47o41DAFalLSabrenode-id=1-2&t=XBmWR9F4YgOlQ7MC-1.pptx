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oppins Bold" charset="1" panose="00000800000000000000"/>
      <p:regular r:id="rId12"/>
    </p:embeddedFont>
    <p:embeddedFont>
      <p:font typeface="Futura" charset="1" panose="020B0502020204020303"/>
      <p:regular r:id="rId13"/>
    </p:embeddedFont>
    <p:embeddedFont>
      <p:font typeface="Canva Sans" charset="1" panose="020B05030305010401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86" t="0" r="-668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533703"/>
            <a:ext cx="12918340" cy="241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17"/>
              </a:lnSpc>
              <a:spcBef>
                <a:spcPct val="0"/>
              </a:spcBef>
            </a:pPr>
            <a:r>
              <a:rPr lang="en-US" b="true" sz="672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</a:t>
            </a:r>
            <a:r>
              <a:rPr lang="en-US" b="true" sz="6726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6726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Summ</a:t>
            </a:r>
            <a:r>
              <a:rPr lang="en-US" b="true" sz="6726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6726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ry</a:t>
            </a:r>
            <a:r>
              <a:rPr lang="en-US" b="true" sz="6726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6726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 Sabr</a:t>
            </a:r>
            <a:r>
              <a:rPr lang="en-US" b="true" sz="6726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6726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Corpor</a:t>
            </a:r>
            <a:r>
              <a:rPr lang="en-US" b="true" sz="6726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6726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6726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b="true" sz="6726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</a:t>
            </a:r>
            <a:r>
              <a:rPr lang="en-US" b="true" sz="6726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</a:t>
            </a:r>
            <a:r>
              <a:rPr lang="en-US" b="true" sz="6726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and Its APIs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128577"/>
            <a:ext cx="10648752" cy="774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 Exploring Travel Technology and API Integration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4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44100" y="2200543"/>
            <a:ext cx="7315200" cy="4109812"/>
          </a:xfrm>
          <a:custGeom>
            <a:avLst/>
            <a:gdLst/>
            <a:ahLst/>
            <a:cxnLst/>
            <a:rect r="r" b="b" t="t" l="l"/>
            <a:pathLst>
              <a:path h="4109812" w="7315200">
                <a:moveTo>
                  <a:pt x="0" y="0"/>
                </a:moveTo>
                <a:lnTo>
                  <a:pt x="7315200" y="0"/>
                </a:lnTo>
                <a:lnTo>
                  <a:pt x="7315200" y="4109812"/>
                </a:lnTo>
                <a:lnTo>
                  <a:pt x="0" y="41098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50474" y="771525"/>
            <a:ext cx="7433370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 Sabre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1600" y="2848136"/>
            <a:ext cx="15927700" cy="4352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sz="6049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Sabre</a:t>
            </a:r>
            <a:r>
              <a:rPr lang="en-US" sz="6049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 Corporation is a global travel technology company founded in 1960. It provides software solutions that support airlines, hotels, and travel agencies.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4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74508" y="6287229"/>
            <a:ext cx="3542525" cy="4945149"/>
          </a:xfrm>
          <a:custGeom>
            <a:avLst/>
            <a:gdLst/>
            <a:ahLst/>
            <a:cxnLst/>
            <a:rect r="r" b="b" t="t" l="l"/>
            <a:pathLst>
              <a:path h="4945149" w="3542525">
                <a:moveTo>
                  <a:pt x="0" y="0"/>
                </a:moveTo>
                <a:lnTo>
                  <a:pt x="3542525" y="0"/>
                </a:lnTo>
                <a:lnTo>
                  <a:pt x="3542525" y="4945149"/>
                </a:lnTo>
                <a:lnTo>
                  <a:pt x="0" y="49451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366394"/>
            <a:ext cx="2745694" cy="4114800"/>
          </a:xfrm>
          <a:custGeom>
            <a:avLst/>
            <a:gdLst/>
            <a:ahLst/>
            <a:cxnLst/>
            <a:rect r="r" b="b" t="t" l="l"/>
            <a:pathLst>
              <a:path h="4114800" w="2745694">
                <a:moveTo>
                  <a:pt x="0" y="0"/>
                </a:moveTo>
                <a:lnTo>
                  <a:pt x="2745694" y="0"/>
                </a:lnTo>
                <a:lnTo>
                  <a:pt x="27456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64838" y="771525"/>
            <a:ext cx="8309670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</a:t>
            </a:r>
            <a:r>
              <a:rPr lang="en-US" b="true" sz="9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at They 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930952"/>
            <a:ext cx="16855972" cy="322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9"/>
              </a:lnSpc>
            </a:pPr>
            <a:r>
              <a:rPr lang="en-US" sz="5899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–</a:t>
            </a:r>
            <a:r>
              <a:rPr lang="en-US" sz="5899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 Power travel bookings and operations</a:t>
            </a:r>
          </a:p>
          <a:p>
            <a:pPr algn="l">
              <a:lnSpc>
                <a:spcPts val="8259"/>
              </a:lnSpc>
            </a:pPr>
            <a:r>
              <a:rPr lang="en-US" sz="5899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– Connect travel service providers globally through its GDS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34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09572" y="2050800"/>
            <a:ext cx="7196358" cy="7671408"/>
          </a:xfrm>
          <a:custGeom>
            <a:avLst/>
            <a:gdLst/>
            <a:ahLst/>
            <a:cxnLst/>
            <a:rect r="r" b="b" t="t" l="l"/>
            <a:pathLst>
              <a:path h="7671408" w="7196358">
                <a:moveTo>
                  <a:pt x="0" y="0"/>
                </a:moveTo>
                <a:lnTo>
                  <a:pt x="7196358" y="0"/>
                </a:lnTo>
                <a:lnTo>
                  <a:pt x="7196358" y="7671408"/>
                </a:lnTo>
                <a:lnTo>
                  <a:pt x="0" y="7671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9833" y="771525"/>
            <a:ext cx="11908334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</a:t>
            </a:r>
            <a:r>
              <a:rPr lang="en-US" b="true" sz="9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ducts &amp; Services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972064"/>
            <a:ext cx="14926469" cy="292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399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– Airline solutions (reservations, operations)</a:t>
            </a:r>
          </a:p>
          <a:p>
            <a:pPr algn="l">
              <a:lnSpc>
                <a:spcPts val="7559"/>
              </a:lnSpc>
            </a:pPr>
            <a:r>
              <a:rPr lang="en-US" sz="5399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– Hospitality solutions (hotel management systems)</a:t>
            </a:r>
          </a:p>
          <a:p>
            <a:pPr algn="l">
              <a:lnSpc>
                <a:spcPts val="7559"/>
              </a:lnSpc>
            </a:pPr>
            <a:r>
              <a:rPr lang="en-US" sz="5399">
                <a:solidFill>
                  <a:srgbClr val="FFFFFF"/>
                </a:solidFill>
                <a:latin typeface="Futura"/>
                <a:ea typeface="Futura"/>
                <a:cs typeface="Futura"/>
                <a:sym typeface="Futura"/>
              </a:rPr>
              <a:t>– Travel marketplace (booking platforms)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861" t="0" r="-23153" b="-495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56012" y="771525"/>
            <a:ext cx="10975975" cy="1652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APIs Used In Sabre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9501" y="3906999"/>
            <a:ext cx="8978838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–</a:t>
            </a: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Enable integration of flight, hotel, and booking services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– Available in REST and SOAP formats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– Support automation and personalization through AI-powered features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540449"/>
            <a:ext cx="9766699" cy="5717851"/>
            <a:chOff x="0" y="0"/>
            <a:chExt cx="2572299" cy="15059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72299" cy="1505936"/>
            </a:xfrm>
            <a:custGeom>
              <a:avLst/>
              <a:gdLst/>
              <a:ahLst/>
              <a:cxnLst/>
              <a:rect r="r" b="b" t="t" l="l"/>
              <a:pathLst>
                <a:path h="1505936" w="2572299">
                  <a:moveTo>
                    <a:pt x="7927" y="0"/>
                  </a:moveTo>
                  <a:lnTo>
                    <a:pt x="2564372" y="0"/>
                  </a:lnTo>
                  <a:cubicBezTo>
                    <a:pt x="2566475" y="0"/>
                    <a:pt x="2568491" y="835"/>
                    <a:pt x="2569977" y="2322"/>
                  </a:cubicBezTo>
                  <a:cubicBezTo>
                    <a:pt x="2571464" y="3808"/>
                    <a:pt x="2572299" y="5825"/>
                    <a:pt x="2572299" y="7927"/>
                  </a:cubicBezTo>
                  <a:lnTo>
                    <a:pt x="2572299" y="1498009"/>
                  </a:lnTo>
                  <a:cubicBezTo>
                    <a:pt x="2572299" y="1502387"/>
                    <a:pt x="2568750" y="1505936"/>
                    <a:pt x="2564372" y="1505936"/>
                  </a:cubicBezTo>
                  <a:lnTo>
                    <a:pt x="7927" y="1505936"/>
                  </a:lnTo>
                  <a:cubicBezTo>
                    <a:pt x="3549" y="1505936"/>
                    <a:pt x="0" y="1502387"/>
                    <a:pt x="0" y="1498009"/>
                  </a:cubicBezTo>
                  <a:lnTo>
                    <a:pt x="0" y="7927"/>
                  </a:lnTo>
                  <a:cubicBezTo>
                    <a:pt x="0" y="3549"/>
                    <a:pt x="3549" y="0"/>
                    <a:pt x="7927" y="0"/>
                  </a:cubicBezTo>
                  <a:close/>
                </a:path>
              </a:pathLst>
            </a:custGeom>
            <a:ln w="66675" cap="sq">
              <a:solidFill>
                <a:srgbClr val="90C0D9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72299" cy="1544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8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69678" y="1770224"/>
            <a:ext cx="7444539" cy="6172200"/>
          </a:xfrm>
          <a:custGeom>
            <a:avLst/>
            <a:gdLst/>
            <a:ahLst/>
            <a:cxnLst/>
            <a:rect r="r" b="b" t="t" l="l"/>
            <a:pathLst>
              <a:path h="6172200" w="7444539">
                <a:moveTo>
                  <a:pt x="0" y="0"/>
                </a:moveTo>
                <a:lnTo>
                  <a:pt x="7444540" y="0"/>
                </a:lnTo>
                <a:lnTo>
                  <a:pt x="744454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DAHHlwd_kXg</dc:identifier>
  <dcterms:modified xsi:type="dcterms:W3CDTF">2011-08-01T06:04:30Z</dcterms:modified>
  <cp:revision>1</cp:revision>
  <dc:title>https://www.figma.com/design/BNQ7rawkVVu47o41DAFalL/Sabre?node-id=1-2&amp;t=XBmWR9F4YgOlQ7MC-1</dc:title>
</cp:coreProperties>
</file>